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1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4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演讲主魂：第一门“自递归进化”的编程语言生命体——挣脱人类肌肉记忆枷锁，在指数级进化中创造无限可能。
动力已变：写代码的主力已从生物人脑变为硅基大模型。
工具错位：所有主流语言仍是 50 年前为人手敲键盘设计的。
破局使命：Spinning Jenny（Jenny）——专为人类意图 × AI 流形重塑的工业母机。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在旧语言里用 AI 写代码：写代码戴脚镣，人审代码累吐血，AI 审 AI 死循环。
写代码死结：&amp;'a mut 与视觉语法糖违背 AI 单向生成流。
人审代码死结：缺乏编写时的心智模型，逆向排查千行 AI 代码。
AI 审 AI 死结：缺乏数学真值锚点，无法收敛。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人类被肌肉记忆锁死、阅读带宽极窄；AI 高维流形毫无语言偏见、吞吐无限。
生物人脑：高层意图与业务红线，深度审阅极限约 200 行/小时。
硅基大模型：跨语言高维语义流形，约 5,000 词/分填空。
第一性原理：把意图留给人类，把语法负担与底层实现留给 AI。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人类只守 .jni 意图蓝图，AI 幕后编织 .jn 极致实现。
.jni：原生 Markdown + 数学契约（requires 金额 &gt; 0），人类审阅量锐减 80%。
.jn：零信任盲测自动合成，抛弃视觉语法糖。
极致物理效率：以 14 行白盒 @spin 替代 C++ 7 万行模板展开，Token 减少 66%、0.1 秒极速构建。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三级正交防线终结 AI 互扯；390 词语法卡让存量代码零痛感跃迁。
人类审意图（5 分钟拍板）→ 架构师 AI 审设计（RC1–RC3）→ 编译器审实现（数学证明 + 压测）。
AI 仅需一张 390 词语法速查卡即可零样本掌握 Jenny。
AI 自动将 C / C++ / Rust 老代码提炼为 .jni 并重织 .jn。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传统语言一发布就被人类肌肉记忆冻死；Jenny 是沿梯度下降持续进化的活体。
传统语言受制于数百万程序员的键盘肌肉记忆。
Jenny 的 .jn 由无历史包袱的 AI 生成，语法与原语成为可实时优化的活体参数。
五维损失函数：TCR、ECC、Heal@k、SHR、HCS。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语言驯化模型（RLVR），模型重塑语言（--distill）。
第 1 阶：报错热力图自动砍掉高摩擦符号，借用幻觉率 0.0%。
第 2 阶：编译器自动蒸馏高频重复 AST，代码量最高压缩 11.37 倍（-91.2% Token）。
第 3 阶：jennyc-self，编译器用 Jenny 自身写成。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不是概念畅想：全套编译器、40 个核心模块与学术论文均已开源可复现。
−78% 代码生成量与 −80% 上下文消耗：同等窗口容纳 3～5 倍规模复杂系统。
100%：4GB 显卡 3B 小模型，2 轮反馈内 100% 盲测自愈通过。
33,380 次压测 0 泄漏：全仓 40 个模块契约 Fuzzing，24 项故障变异 100% 静态拦截。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人类定义价值与意图，AI 与编译器在自递归进化中编织可核验的实现。
人类归位：告别提示词调优员与审代码苦力，专注顶层架构与商业意图（.jni）。
无限可能：单人架构师即可驾驭更大规模的系统工程。
立即探索：深度长文 introducing_spinning_jenny_zh.md；中文论文 spinning_jenny_paper_zh.md；英文论文 spinning_jenny_paper_en.md。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Jenny-RSI/Jenny-lang/blob/develop/docs/paper/spinning_jenny_paper_zh.md" TargetMode="External"/><Relationship Id="rId4" Type="http://schemas.openxmlformats.org/officeDocument/2006/relationships/hyperlink" Target="https://github.com/Jenny-RSI/Jenny-lang/blob/develop/docs/zh/articles/introducing_spinning_jenny_zh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38912" y="100314"/>
            <a:ext cx="3940177" cy="85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zh-CN" alt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时代的编程范式革命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912" y="897810"/>
            <a:ext cx="7589520" cy="417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1764 </a:t>
            </a:r>
            <a:r>
              <a:rPr lang="en-US" sz="1400" i="1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年，珍妮纺纱机</a:t>
            </a:r>
            <a:r>
              <a:rPr lang="zh-CN" alt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开启了工业革命的序幕；今天，</a:t>
            </a:r>
            <a:r>
              <a:rPr lang="en-US" altLang="zh-CN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Jenny</a:t>
            </a:r>
            <a:r>
              <a:rPr lang="zh-CN" alt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语言将再次引发编程的范式革命</a:t>
            </a:r>
            <a:endParaRPr lang="en-US" sz="1400" dirty="0"/>
          </a:p>
        </p:txBody>
      </p:sp>
      <p:pic>
        <p:nvPicPr>
          <p:cNvPr id="5" name="Image 0" descr="时代错位，该换工业母机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555" y="1513004"/>
            <a:ext cx="7498080" cy="418497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38912" y="6473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SPINNING JENNY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09760" y="64739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/  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38912" y="49377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的三个死结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912" y="100584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在旧语言里用 AI </a:t>
            </a:r>
            <a:r>
              <a:rPr lang="en-US" sz="1400" i="1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写代码：写的时候</a:t>
            </a:r>
            <a:r>
              <a:rPr lang="zh-CN" alt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靠许愿</a:t>
            </a:r>
            <a:r>
              <a:rPr 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400" i="1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审的时候</a:t>
            </a:r>
            <a:r>
              <a:rPr lang="zh-CN" alt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两眼一摸黑</a:t>
            </a:r>
            <a:r>
              <a:rPr 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，模型之间还在互相拉扯。</a:t>
            </a:r>
            <a:endParaRPr lang="en-US" sz="1400" dirty="0"/>
          </a:p>
        </p:txBody>
      </p:sp>
      <p:pic>
        <p:nvPicPr>
          <p:cNvPr id="5" name="Image 0" descr="Vibe Coding 的三个死结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83080"/>
            <a:ext cx="7498080" cy="41849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3880" y="1783080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39328" y="191190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AI写代码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39328" y="240487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传统编程语言并非为</a:t>
            </a:r>
            <a:r>
              <a:rPr lang="en-US" altLang="zh-CN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altLang="zh-CN" sz="1200" dirty="0">
              <a:solidFill>
                <a:srgbClr val="4E607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靠幻觉无法突破自然语言和代码逻辑的天然鸿沟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83880" y="3227832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39328" y="3311285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人审代码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39328" y="384962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亲手写代码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的心智模型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审比写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</a:t>
            </a: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</a:t>
            </a: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倍，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只能袖手旁观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83880" y="4672584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39328" y="47914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审 AI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39328" y="529437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形式化契约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两个概率模型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在相同的抽象层面上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来回烧</a:t>
            </a: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Token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，无法收敛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" y="6473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SPINNING JENNY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09760" y="64739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/  09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第一性原理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49377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人脑很窄，模型没有语言偏见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912" y="100584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人被肌肉记忆锁住，阅读带宽极窄。模型活在高维语义里，对某一种语法并没有偏见。</a:t>
            </a:r>
            <a:endParaRPr lang="en-US" sz="1400" dirty="0"/>
          </a:p>
        </p:txBody>
      </p:sp>
      <p:pic>
        <p:nvPicPr>
          <p:cNvPr id="5" name="Image 0" descr="人脑很窄，模型没有语言偏见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83080"/>
            <a:ext cx="7498080" cy="41849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3880" y="1783080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39328" y="21305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</a:t>
            </a:r>
            <a:r>
              <a:rPr lang="zh-CN" alt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</a:t>
            </a: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脑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39328" y="240487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擅长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高层意图和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潜规则</a:t>
            </a:r>
            <a:endParaRPr lang="en-US" altLang="zh-CN" sz="1200" dirty="0">
              <a:solidFill>
                <a:srgbClr val="4E607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敲代码的速度极慢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83880" y="3227832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39328" y="33375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39328" y="35753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硅基模型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39328" y="384962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代码逻辑存在于模型的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语义流形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空间中</a:t>
            </a:r>
            <a:endParaRPr lang="en-US" altLang="zh-CN" sz="1200" dirty="0">
              <a:solidFill>
                <a:srgbClr val="4E607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</a:rPr>
              <a:t>在确定性下能以极快的速度输出代码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83880" y="4672584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39328" y="50200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39328" y="529437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意图留给人类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语法和实现留给没有偏见的</a:t>
            </a: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" y="6473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SPINNING JENNY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09760" y="64739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/  09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38912" y="49377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人类用自然语言写意图</a:t>
            </a: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，AI 写实现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912" y="100584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人类只</a:t>
            </a:r>
            <a:r>
              <a:rPr lang="zh-CN" alt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</a:t>
            </a:r>
            <a:r>
              <a:rPr 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.jni 意图蓝图。AI 在幕后编织 .jn 极致实现。</a:t>
            </a:r>
            <a:endParaRPr lang="en-US" sz="1400" dirty="0"/>
          </a:p>
        </p:txBody>
      </p:sp>
      <p:pic>
        <p:nvPicPr>
          <p:cNvPr id="5" name="Image 0" descr="人守蓝图，AI 写实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83080"/>
            <a:ext cx="7498080" cy="41849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3880" y="1783080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39328" y="21305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.jni 蓝图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39328" y="240487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 Markdown 加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人类审阅量锐减 80%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83880" y="3227832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39328" y="35753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.jn 实现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39328" y="384962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形式化契约带来确定性，消除幻觉</a:t>
            </a:r>
            <a:endParaRPr lang="en-US" altLang="zh-CN" sz="1200" dirty="0">
              <a:solidFill>
                <a:srgbClr val="4E607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</a:t>
            </a:r>
            <a:r>
              <a:rPr lang="en-US" altLang="zh-CN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原生设计，摒弃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讨好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的语法糖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83880" y="4672584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39328" y="50200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物理效率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39328" y="529437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大幅节省上下文空间</a:t>
            </a:r>
            <a:endParaRPr lang="en-US" altLang="zh-CN" sz="1200" dirty="0">
              <a:solidFill>
                <a:srgbClr val="4E607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</a:rPr>
              <a:t>Token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</a:rPr>
              <a:t>效率提升</a:t>
            </a:r>
            <a:r>
              <a:rPr lang="en-US" altLang="zh-CN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</a:rPr>
              <a:t>10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</a:rPr>
              <a:t>倍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" y="6473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SPINNING JENNY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09760" y="64739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/  09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38912" y="49377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三道防线，一张语法卡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912" y="100584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人审意图，架构师模型审设计，编译器审实现。存量代码不必先让人把语法学一遍。</a:t>
            </a:r>
            <a:endParaRPr lang="en-US" sz="1400" dirty="0"/>
          </a:p>
        </p:txBody>
      </p:sp>
      <p:pic>
        <p:nvPicPr>
          <p:cNvPr id="5" name="Image 0" descr="三道防线，一张语法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83080"/>
            <a:ext cx="7498080" cy="41849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3880" y="1783080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39328" y="21305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三级评审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39328" y="240487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人类评审代码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架构师AI定</a:t>
            </a: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RC1–RC3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编译器做证明和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83880" y="3227832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39328" y="35753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390 词语法卡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39328" y="384962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一张短语法速查卡。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模型可零样本写出 Jenny 实现。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83880" y="4672584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39328" y="50200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存量接管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39328" y="529437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/ C++ / Rust 先提炼成 .jni，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再重织成 .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jn</a:t>
            </a: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自动化迁移</a:t>
            </a: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" y="6473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SPINNING JENNY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09760" y="64739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/  09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F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</a:t>
            </a:r>
            <a:r>
              <a:rPr lang="zh-CN" altLang="en-US" sz="1200" b="1" dirty="0">
                <a:solidFill>
                  <a:srgbClr val="0F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革命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49377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</a:t>
            </a:r>
            <a:r>
              <a:rPr lang="en-US" sz="2800" b="1" dirty="0" err="1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</a:t>
            </a:r>
            <a:r>
              <a:rPr lang="zh-CN" alt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自递归</a:t>
            </a:r>
            <a:r>
              <a:rPr lang="en-US" sz="2800" b="1" dirty="0" err="1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912" y="100584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传统语言一发布，就被几百万人的键盘肌肉记忆冻住。Jenny</a:t>
            </a:r>
            <a:r>
              <a:rPr 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00" i="1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把语法当成还能</a:t>
            </a:r>
            <a:r>
              <a:rPr lang="zh-CN" alt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</a:t>
            </a:r>
            <a:r>
              <a:rPr lang="en-US" sz="1400" i="1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的参数</a:t>
            </a:r>
            <a:r>
              <a:rPr 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pic>
        <p:nvPicPr>
          <p:cNvPr id="5" name="Image 0" descr="语法可以继续进化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83080"/>
            <a:ext cx="7498080" cy="41849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3880" y="1783080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39328" y="21305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传统死穴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39328" y="240487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烂语法一旦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就再也推不翻</a:t>
            </a:r>
            <a:endParaRPr lang="en-US" sz="1200" dirty="0">
              <a:solidFill>
                <a:srgbClr val="4E607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</a:rPr>
              <a:t>每一个遗产系统的背后都是屎山代码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83880" y="3227832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39328" y="35753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活体参数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39328" y="384962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 .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jn</a:t>
            </a: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没有历史包袱</a:t>
            </a:r>
            <a:endParaRPr lang="en-US" sz="1200" dirty="0"/>
          </a:p>
          <a:p>
            <a:pPr marL="0" indent="0">
              <a:buNone/>
            </a:pP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83880" y="4672584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39328" y="50200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r>
              <a:rPr lang="zh-CN" alt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大量化指标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39328" y="529437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TCR、ECC、Heal@k、SHR、HCS</a:t>
            </a:r>
            <a:endParaRPr lang="en-US" sz="1200" dirty="0"/>
          </a:p>
          <a:p>
            <a:pPr marL="0" indent="0">
              <a:buNone/>
            </a:pP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将量化指标做为损失函数指导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语言进化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" y="6473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SPINNING JENNY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09760" y="64739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/  09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自进化飞轮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49377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语言驯化模型，模型重塑语言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912" y="100584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报错数据改语法，高频结构长成原语。下一步，是编译器自己用 Jenny 写成。</a:t>
            </a:r>
            <a:endParaRPr lang="en-US" sz="1400" dirty="0"/>
          </a:p>
        </p:txBody>
      </p:sp>
      <p:pic>
        <p:nvPicPr>
          <p:cNvPr id="5" name="Image 0" descr="语言驯化模型，模型重塑语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83080"/>
            <a:ext cx="7498080" cy="41849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3880" y="1783080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39328" y="21305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语法自降噪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39328" y="240487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报错热力图砍掉高摩擦符号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借用幻觉率 0.0%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83880" y="3227832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39328" y="35753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原语自生长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39328" y="384962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蒸馏高频重复的</a:t>
            </a: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最高压缩 11.37 倍（−91.2%）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83880" y="4672584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39328" y="50200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自举奇点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39328" y="529437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</a:rPr>
              <a:t>用</a:t>
            </a:r>
            <a:r>
              <a:rPr lang="en-US" altLang="zh-CN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</a:rPr>
              <a:t>Jenny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</a:rPr>
              <a:t>重写人类世界的所有软件</a:t>
            </a:r>
            <a:endParaRPr lang="en-US" altLang="zh-CN" sz="1200" dirty="0">
              <a:solidFill>
                <a:srgbClr val="4E6070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</a:rPr>
              <a:t>每一轮重写都可以卸掉历史包袱蒸馏出精华</a:t>
            </a:r>
            <a:endParaRPr lang="en-US" sz="1200" dirty="0">
              <a:solidFill>
                <a:srgbClr val="4E607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38912" y="6473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SPINNING JENNY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09760" y="64739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/  09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硬核实证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49377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仓库里已经能复现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912" y="100584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不是概念畅想：编译器、40 个核心模块与论文均已开源，可以复现。</a:t>
            </a:r>
            <a:endParaRPr lang="en-US" sz="1400" dirty="0"/>
          </a:p>
        </p:txBody>
      </p:sp>
      <p:pic>
        <p:nvPicPr>
          <p:cNvPr id="5" name="Image 0" descr="仓库里已经能复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83080"/>
            <a:ext cx="7498080" cy="41849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3880" y="1783080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39328" y="18928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39328" y="21305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−78% / −80%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39328" y="240487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生成量与上下文都下降。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同等</a:t>
            </a:r>
            <a:r>
              <a:rPr lang="zh-CN" alt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r>
              <a:rPr lang="en-US" sz="1200" dirty="0" err="1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窗口容纳</a:t>
            </a: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3～5 倍系统。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83880" y="3227832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39328" y="33375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39328" y="35753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3B · 100%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39328" y="384962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4GB 显卡上的 3B 模型，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两轮内盲测自愈通过。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83880" y="4672584"/>
            <a:ext cx="356616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39328" y="47823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339328" y="50200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33,380 · 0 泄漏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39328" y="529437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个模块契约压测。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项变异 100% 静态拦截。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" y="6473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SPINNING JENNY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09760" y="64739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/  09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6E78"/>
                </a:solidFill>
                <a:latin typeface="Microsoft YaHei" pitchFamily="34" charset="0"/>
                <a:ea typeface="Microsoft YaHei" pitchFamily="34" charset="-122"/>
              </a:rPr>
              <a:t>愿景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49377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下一代软件工业母机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912" y="100584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人定义价值和意图。AI 与编译器负责把它们织成可以核验的实现。</a:t>
            </a:r>
            <a:endParaRPr lang="en-US" sz="1400" dirty="0"/>
          </a:p>
        </p:txBody>
      </p:sp>
      <p:pic>
        <p:nvPicPr>
          <p:cNvPr id="5" name="Image 0" descr="下一代软件工业母机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83080"/>
            <a:ext cx="7498080" cy="41849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3880" y="1783080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39328" y="21305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人类归位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39328" y="2404872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少做调优和逐行审代码，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把时间放回架构与业务。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83880" y="3081528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39328" y="34290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尺度放大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39328" y="3703320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飞轮转起来后，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一位架构师能照看更大的系统。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83880" y="4379976"/>
            <a:ext cx="35661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1A2332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39328" y="47274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现在就能读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39328" y="5001768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长文、中文论文和英文论文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都在仓库里，链接在下方。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83880" y="58704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0F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深度长文</a:t>
            </a: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</a:t>
            </a:r>
            <a:r>
              <a:rPr lang="en-US" sz="120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 </a:t>
            </a:r>
            <a:r>
              <a:rPr lang="zh-CN" altLang="en-US" sz="1200" b="1" u="sng">
                <a:solidFill>
                  <a:srgbClr val="0F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技术</a:t>
            </a:r>
            <a:r>
              <a:rPr lang="en-US" sz="1200" b="1" u="sng" dirty="0" err="1">
                <a:solidFill>
                  <a:srgbClr val="0F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论文</a:t>
            </a:r>
            <a:r>
              <a:rPr lang="en-US" sz="12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38912" y="6473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SPINNING JENNY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509760" y="64739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E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/  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928</Words>
  <Application>Microsoft Office PowerPoint</Application>
  <PresentationFormat>宽屏</PresentationFormat>
  <Paragraphs>134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Spinning Jenny — AI 原生编程的范式革命</dc:title>
  <dc:subject>由 docs/articles/spinning_jenny_pitch_deck_zh.md 转换</dc:subject>
  <dc:creator>Spinning Jenny</dc:creator>
  <cp:lastModifiedBy>捷 乔</cp:lastModifiedBy>
  <cp:revision>5</cp:revision>
  <dcterms:created xsi:type="dcterms:W3CDTF">2026-10-19T03:24:01Z</dcterms:created>
  <dcterms:modified xsi:type="dcterms:W3CDTF">2026-10-19T04:47:14Z</dcterms:modified>
</cp:coreProperties>
</file>